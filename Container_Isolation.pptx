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Today I will explain container isolation using Docker as a case study. The main idea is that containers are not full virtual machines. They are ordinary Linux processes wrapped with kernel isolation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first compare containers with virtual machines, then discuss the four main isolation mechanisms: namespaces, cgroups, overlay filesystems, and security layers. Finally, we will look at cloud computing use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container looks like a separate machine to the application inside it, but from the kernel's point of view it is just a process with restricted visibility and limited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VMs duplicate the whole OS per workload; containers share one kernel.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Virtual machines emulate complete hardware and run separate operating systems. Containers share the host kernel, so they are faster and lighter, but their isolation boundary is not as strong as a full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Namespaces provide visibility isolation. For example, a process inside a container can believe it is PID 1, even though on the host it has a completely different 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namespaces control visibility, cgroups control quantity. They are important in cloud environments because many containers share the same physical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Namespaces control visibility; cgroups control quantity.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Overlay filesystems give each container a private filesystem view. The container can modify files, but changes are stored in its own writable layer and do not affect other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the writable layer differs per container; base layers are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Container isolation is not based on one magic feature. It combines several kernel mechanisms to reduce the attack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attacker must bypass every ring, not just one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user runs docker run, the Docker daemon eventually asks runc to create the container. runc is the low-level component that interacts directly with Linux kernel isolation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 -&gt; dockerd -&gt; containerd -&gt; runc -&gt; kernel primitives.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command creates namespaces, cgroups, filesystem isolation, and security restrictions for the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demo shows that the container process has one PID inside the container but another PID on the host. The /proc namespace listing shows the separate namespaces assigned to the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 computing depends heavily on isolation. Containers allow providers to run many workloads on the same physical servers while maintaining separation between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plane schedules pods; policies extend isolation cluster-wide.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Containers are not the strongest possible isolation mechanism. For untrusted code, cloud providers may add gVisor, Kata Containers, Firecracker microVMs, or full virtual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Isolation is a dial: containers are mid-spectrum; microVMs and VMs are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Containers provide strong practical isolation, but they are not as hard a boundary as full virtual machines. For untrusted code, stronger isolation technologies should be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summarize, container isolation is built from several operating system mechanisms working together. This is why containers are lightweight, fast, and useful for cloud deployment, but still require careful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Container Isolation: How Docker Tricks the 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 Study: Docker Containers &amp; Cloud Computing</a:t>
            </a:r>
          </a:p>
          <a:p>
            <a:r>
              <a:t>Operating Systems Class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Introduction to containers</a:t>
            </a:r>
          </a:p>
          <a:p>
            <a:pPr>
              <a:spcAft>
                <a:spcPts val="800"/>
              </a:spcAft>
              <a:defRPr sz="2400"/>
            </a:pPr>
            <a:r>
              <a:t>Virtual machines vs containers</a:t>
            </a:r>
          </a:p>
          <a:p>
            <a:pPr>
              <a:spcAft>
                <a:spcPts val="800"/>
              </a:spcAft>
              <a:defRPr sz="2400"/>
            </a:pPr>
            <a:r>
              <a:t>Linux namespaces</a:t>
            </a:r>
          </a:p>
          <a:p>
            <a:pPr>
              <a:spcAft>
                <a:spcPts val="800"/>
              </a:spcAft>
              <a:defRPr sz="2400"/>
            </a:pPr>
            <a:r>
              <a:t>Control groups (cgroups)</a:t>
            </a:r>
          </a:p>
          <a:p>
            <a:pPr>
              <a:spcAft>
                <a:spcPts val="800"/>
              </a:spcAft>
              <a:defRPr sz="2400"/>
            </a:pPr>
            <a:r>
              <a:t>Overlay filesystems</a:t>
            </a:r>
          </a:p>
          <a:p>
            <a:pPr>
              <a:spcAft>
                <a:spcPts val="800"/>
              </a:spcAft>
              <a:defRPr sz="2400"/>
            </a:pPr>
            <a:r>
              <a:t>Security layers</a:t>
            </a:r>
          </a:p>
          <a:p>
            <a:pPr>
              <a:spcAft>
                <a:spcPts val="800"/>
              </a:spcAft>
              <a:defRPr sz="2400"/>
            </a:pPr>
            <a:r>
              <a:t>Docker execution model</a:t>
            </a:r>
          </a:p>
          <a:p>
            <a:pPr>
              <a:spcAft>
                <a:spcPts val="800"/>
              </a:spcAft>
              <a:defRPr sz="2400"/>
            </a:pPr>
            <a:r>
              <a:t>Containers in cloud computing</a:t>
            </a:r>
          </a:p>
          <a:p>
            <a:pPr>
              <a:spcAft>
                <a:spcPts val="800"/>
              </a:spcAft>
              <a:defRPr sz="2400"/>
            </a:pPr>
            <a:r>
              <a:t>Limitations and security concerns</a:t>
            </a:r>
          </a:p>
          <a:p>
            <a:pPr>
              <a:spcAft>
                <a:spcPts val="800"/>
              </a:spcAft>
              <a:defRPr sz="2400"/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Container?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A lightweight, isolated user-space environment</a:t>
            </a:r>
          </a:p>
          <a:p>
            <a:pPr>
              <a:spcAft>
                <a:spcPts val="800"/>
              </a:spcAft>
              <a:defRPr sz="2400"/>
            </a:pPr>
            <a:r>
              <a:t>Shares the host operating system kernel</a:t>
            </a:r>
          </a:p>
          <a:p>
            <a:pPr>
              <a:spcAft>
                <a:spcPts val="800"/>
              </a:spcAft>
              <a:defRPr sz="2400"/>
            </a:pPr>
            <a:r>
              <a:t>Packages application code, libraries, and dependencies</a:t>
            </a:r>
          </a:p>
          <a:p>
            <a:pPr>
              <a:spcAft>
                <a:spcPts val="800"/>
              </a:spcAft>
              <a:defRPr sz="2400"/>
            </a:pPr>
            <a:r>
              <a:t>Faster and lighter than a full virtual machine</a:t>
            </a:r>
          </a:p>
          <a:p>
            <a:pPr>
              <a:spcAft>
                <a:spcPts val="800"/>
              </a:spcAft>
              <a:defRPr sz="2400"/>
            </a:pPr>
            <a:r>
              <a:t>Uses Linux kernel features such as namespaces and cgroups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Virtual Machines vs Containers</a:t>
            </a:r>
          </a:p>
        </p:txBody>
      </p:sp>
      <p:pic>
        <p:nvPicPr>
          <p:cNvPr id="3" name="Picture 2" descr="vm_vs_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34440"/>
            <a:ext cx="10058400" cy="5281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Machines vs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Virtual machines emulate complete hardware</a:t>
            </a:r>
          </a:p>
          <a:p>
            <a:pPr lvl="1">
              <a:spcAft>
                <a:spcPts val="800"/>
              </a:spcAft>
              <a:defRPr sz="2000"/>
            </a:pPr>
            <a:r>
              <a:t>Require a hypervisor such as VMware, KVM, or VirtualBox</a:t>
            </a:r>
          </a:p>
          <a:p>
            <a:pPr lvl="1">
              <a:spcAft>
                <a:spcPts val="800"/>
              </a:spcAft>
              <a:defRPr sz="2000"/>
            </a:pPr>
            <a:r>
              <a:t>Each VM runs a full guest operating system</a:t>
            </a:r>
          </a:p>
          <a:p>
            <a:pPr>
              <a:spcAft>
                <a:spcPts val="800"/>
              </a:spcAft>
              <a:defRPr sz="2400"/>
            </a:pPr>
            <a:r>
              <a:t>Containers use OS-level isolation</a:t>
            </a:r>
          </a:p>
          <a:p>
            <a:pPr lvl="1">
              <a:spcAft>
                <a:spcPts val="800"/>
              </a:spcAft>
              <a:defRPr sz="2000"/>
            </a:pPr>
            <a:r>
              <a:t>Containers share the host kernel</a:t>
            </a:r>
          </a:p>
          <a:p>
            <a:pPr lvl="1">
              <a:spcAft>
                <a:spcPts val="800"/>
              </a:spcAft>
              <a:defRPr sz="2000"/>
            </a:pPr>
            <a:r>
              <a:t>Containers start in milliseconds to seconds</a:t>
            </a:r>
          </a:p>
          <a:p>
            <a:pPr>
              <a:spcAft>
                <a:spcPts val="800"/>
              </a:spcAft>
              <a:defRPr sz="2400"/>
            </a:pPr>
            <a:r>
              <a:t>VMs provide stronger isolation but higher overhead</a:t>
            </a:r>
          </a:p>
          <a:p>
            <a:pPr>
              <a:spcAft>
                <a:spcPts val="800"/>
              </a:spcAft>
              <a:defRPr sz="2400"/>
            </a:pPr>
            <a:r>
              <a:t>Containers provide faster deployment and higher density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1: Linux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Namespaces control what a process can see</a:t>
            </a:r>
          </a:p>
          <a:p>
            <a:pPr>
              <a:spcAft>
                <a:spcPts val="800"/>
              </a:spcAft>
              <a:defRPr sz="2400"/>
            </a:pPr>
            <a:r>
              <a:t>PID namespace: isolates process IDs</a:t>
            </a:r>
          </a:p>
          <a:p>
            <a:pPr>
              <a:spcAft>
                <a:spcPts val="800"/>
              </a:spcAft>
              <a:defRPr sz="2400"/>
            </a:pPr>
            <a:r>
              <a:t>NET namespace: isolates network interfaces and ports</a:t>
            </a:r>
          </a:p>
          <a:p>
            <a:pPr>
              <a:spcAft>
                <a:spcPts val="800"/>
              </a:spcAft>
              <a:defRPr sz="2400"/>
            </a:pPr>
            <a:r>
              <a:t>MNT namespace: isolates mount points</a:t>
            </a:r>
          </a:p>
          <a:p>
            <a:pPr>
              <a:spcAft>
                <a:spcPts val="800"/>
              </a:spcAft>
              <a:defRPr sz="2400"/>
            </a:pPr>
            <a:r>
              <a:t>UTS namespace: isolates hostname</a:t>
            </a:r>
          </a:p>
          <a:p>
            <a:pPr>
              <a:spcAft>
                <a:spcPts val="800"/>
              </a:spcAft>
              <a:defRPr sz="2400"/>
            </a:pPr>
            <a:r>
              <a:t>IPC namespace: isolates inter-process communication</a:t>
            </a:r>
          </a:p>
          <a:p>
            <a:pPr>
              <a:spcAft>
                <a:spcPts val="800"/>
              </a:spcAft>
              <a:defRPr sz="2400"/>
            </a:pPr>
            <a:r>
              <a:t>USER namespace: isolates user and group IDs</a:t>
            </a:r>
          </a:p>
          <a:p>
            <a:pPr>
              <a:spcAft>
                <a:spcPts val="800"/>
              </a:spcAft>
              <a:defRPr sz="2400"/>
            </a:pPr>
            <a:r>
              <a:t>Each container gets a private view of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2: Control Groups (cgroups)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Cgroups control how much resource a container can use</a:t>
            </a:r>
          </a:p>
          <a:p>
            <a:pPr>
              <a:spcAft>
                <a:spcPts val="800"/>
              </a:spcAft>
              <a:defRPr sz="2400"/>
            </a:pPr>
            <a:r>
              <a:t>CPU: limit percentage of processor time</a:t>
            </a:r>
          </a:p>
          <a:p>
            <a:pPr>
              <a:spcAft>
                <a:spcPts val="800"/>
              </a:spcAft>
              <a:defRPr sz="2400"/>
            </a:pPr>
            <a:r>
              <a:t>Memory: set hard memory limits</a:t>
            </a:r>
          </a:p>
          <a:p>
            <a:pPr>
              <a:spcAft>
                <a:spcPts val="800"/>
              </a:spcAft>
              <a:defRPr sz="2400"/>
            </a:pPr>
            <a:r>
              <a:t>Block I/O: limit disk read/write bandwidth</a:t>
            </a:r>
          </a:p>
          <a:p>
            <a:pPr>
              <a:spcAft>
                <a:spcPts val="800"/>
              </a:spcAft>
              <a:defRPr sz="2400"/>
            </a:pPr>
            <a:r>
              <a:t>PIDs: limit number of processes</a:t>
            </a:r>
          </a:p>
          <a:p>
            <a:pPr>
              <a:spcAft>
                <a:spcPts val="800"/>
              </a:spcAft>
              <a:defRPr sz="2400"/>
            </a:pPr>
            <a:r>
              <a:t>Devices: allow or deny device access</a:t>
            </a:r>
          </a:p>
          <a:p>
            <a:pPr>
              <a:spcAft>
                <a:spcPts val="800"/>
              </a:spcAft>
              <a:defRPr sz="2400"/>
            </a:pPr>
            <a:r>
              <a:t>Prevents one container from starving others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Namespaces vs Cgroups: See vs Use</a:t>
            </a:r>
          </a:p>
        </p:txBody>
      </p:sp>
      <p:pic>
        <p:nvPicPr>
          <p:cNvPr id="3" name="Picture 2" descr="namespaces_c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34440"/>
            <a:ext cx="10058400" cy="5281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Pillar 3: Overlay Filesystems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Container Writable Layer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-----------------------------------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Read-only Layer 3: Application code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Read-only Layer 2: Libraries/runtime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Read-only Layer 1: Base OS image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Overlay Filesystem Layers</a:t>
            </a:r>
          </a:p>
        </p:txBody>
      </p:sp>
      <p:pic>
        <p:nvPicPr>
          <p:cNvPr id="3" name="Picture 2" descr="overlay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34440"/>
            <a:ext cx="10058400" cy="56703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4: Security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Cgroups limit resource usage</a:t>
            </a:r>
          </a:p>
          <a:p>
            <a:pPr>
              <a:spcAft>
                <a:spcPts val="800"/>
              </a:spcAft>
              <a:defRPr sz="2400"/>
            </a:pPr>
            <a:r>
              <a:t>Namespaces isolate visibility</a:t>
            </a:r>
          </a:p>
          <a:p>
            <a:pPr>
              <a:spcAft>
                <a:spcPts val="800"/>
              </a:spcAft>
              <a:defRPr sz="2400"/>
            </a:pPr>
            <a:r>
              <a:t>Linux capabilities remove unnecessary root privileges</a:t>
            </a:r>
          </a:p>
          <a:p>
            <a:pPr>
              <a:spcAft>
                <a:spcPts val="800"/>
              </a:spcAft>
              <a:defRPr sz="2400"/>
            </a:pPr>
            <a:r>
              <a:t>Seccomp-BPF restricts allowed system calls</a:t>
            </a:r>
          </a:p>
          <a:p>
            <a:pPr>
              <a:spcAft>
                <a:spcPts val="800"/>
              </a:spcAft>
              <a:defRPr sz="2400"/>
            </a:pPr>
            <a:r>
              <a:t>AppArmor or SELinux enforces mandatory access control</a:t>
            </a:r>
          </a:p>
          <a:p>
            <a:pPr>
              <a:spcAft>
                <a:spcPts val="800"/>
              </a:spcAft>
              <a:defRPr sz="2400"/>
            </a:pPr>
            <a:r>
              <a:t>Docker uses defense-in-depth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Defence in Depth</a:t>
            </a:r>
          </a:p>
        </p:txBody>
      </p:sp>
      <p:pic>
        <p:nvPicPr>
          <p:cNvPr id="3" name="Picture 2" descr="security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34440"/>
            <a:ext cx="10058400" cy="57121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How Docker Launches a Container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docker CLI -&gt; dockerd -&gt; containerd -&gt; runc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runc performs: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1. clone() with namespace flags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2. cgroup resource setup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3. filesystem setup with pivot_root()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4. capability dropping and seccomp filtering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5. exec() of container entrypoint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Inside docker run</a:t>
            </a:r>
          </a:p>
        </p:txBody>
      </p:sp>
      <p:pic>
        <p:nvPicPr>
          <p:cNvPr id="3" name="Picture 2" descr="dock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34440"/>
            <a:ext cx="10058400" cy="52812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Example Docker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docker run -d --name web \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--memory=256m \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--cpus=0.5 \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--read-only \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--tmpfs /tmp \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--security-opt=no-new-privileges \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 nginx:alpine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Class Demo: Observing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docker run -d --name demo --memory=128m --cpus=0.5 nginx:alpine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docker top demo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ps aux | grep nginx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docker inspect demo --format '{{.HostConfig.Memory}}'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PID=$(docker inspect -f '{{.State.Pid}}' demo)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ls -l /proc/$PID/ns/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Containers in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Cloud providers use containers for fast scaling</a:t>
            </a:r>
          </a:p>
          <a:p>
            <a:pPr>
              <a:spcAft>
                <a:spcPts val="800"/>
              </a:spcAft>
              <a:defRPr sz="2400"/>
            </a:pPr>
            <a:r>
              <a:t>Many workloads can share the same physical server</a:t>
            </a:r>
          </a:p>
          <a:p>
            <a:pPr>
              <a:spcAft>
                <a:spcPts val="800"/>
              </a:spcAft>
              <a:defRPr sz="2400"/>
            </a:pPr>
            <a:r>
              <a:t>Kubernetes manages containers across many machines</a:t>
            </a:r>
          </a:p>
          <a:p>
            <a:pPr>
              <a:spcAft>
                <a:spcPts val="800"/>
              </a:spcAft>
              <a:defRPr sz="2400"/>
            </a:pPr>
            <a:r>
              <a:t>Managed services include AWS EKS, Google GKE, Azure AKS</a:t>
            </a:r>
          </a:p>
          <a:p>
            <a:pPr>
              <a:spcAft>
                <a:spcPts val="800"/>
              </a:spcAft>
              <a:defRPr sz="2400"/>
            </a:pPr>
            <a:r>
              <a:t>Serverless platforms often use containers or microVMs</a:t>
            </a:r>
          </a:p>
          <a:p>
            <a:pPr>
              <a:spcAft>
                <a:spcPts val="800"/>
              </a:spcAft>
              <a:defRPr sz="2400"/>
            </a:pPr>
            <a:r>
              <a:t>Isolation enables multi-tenant cloud environments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Kubernetes: Isolation at Cloud Scale</a:t>
            </a:r>
          </a:p>
        </p:txBody>
      </p:sp>
      <p:pic>
        <p:nvPicPr>
          <p:cNvPr id="3" name="Picture 2" descr="kubernetes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34440"/>
            <a:ext cx="10058400" cy="52812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Isolation Strength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Weaker Isolation &lt;---------------------------------------&gt; Stronger Isolation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 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t>chroot        Docker        gVisor/user-space kernel        Kata/Firecracker        Full VM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Isolation Strength Spectrum</a:t>
            </a:r>
          </a:p>
        </p:txBody>
      </p:sp>
      <p:pic>
        <p:nvPicPr>
          <p:cNvPr id="3" name="Picture 2" descr="isolation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34440"/>
            <a:ext cx="10058400" cy="43415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Security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Containers share the host kernel</a:t>
            </a:r>
          </a:p>
          <a:p>
            <a:pPr>
              <a:spcAft>
                <a:spcPts val="800"/>
              </a:spcAft>
              <a:defRPr sz="2400"/>
            </a:pPr>
            <a:r>
              <a:t>A kernel vulnerability may affect all containers</a:t>
            </a:r>
          </a:p>
          <a:p>
            <a:pPr>
              <a:spcAft>
                <a:spcPts val="800"/>
              </a:spcAft>
              <a:defRPr sz="2400"/>
            </a:pPr>
            <a:r>
              <a:t>Privileged containers weaken isolation</a:t>
            </a:r>
          </a:p>
          <a:p>
            <a:pPr>
              <a:spcAft>
                <a:spcPts val="800"/>
              </a:spcAft>
              <a:defRPr sz="2400"/>
            </a:pPr>
            <a:r>
              <a:t>Side-channel attacks may cross container boundaries</a:t>
            </a:r>
          </a:p>
          <a:p>
            <a:pPr>
              <a:spcAft>
                <a:spcPts val="800"/>
              </a:spcAft>
              <a:defRPr sz="2400"/>
            </a:pPr>
            <a:r>
              <a:t>Malicious images can introduce vulnerabilities</a:t>
            </a:r>
          </a:p>
          <a:p>
            <a:pPr>
              <a:spcAft>
                <a:spcPts val="800"/>
              </a:spcAft>
              <a:defRPr sz="2400"/>
            </a:pPr>
            <a:r>
              <a:t>Network traffic may need encryption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Containers are isolated processes, not full virtual machines</a:t>
            </a:r>
          </a:p>
          <a:p>
            <a:pPr>
              <a:spcAft>
                <a:spcPts val="800"/>
              </a:spcAft>
              <a:defRPr sz="2400"/>
            </a:pPr>
            <a:r>
              <a:t>Namespaces control what a container can see</a:t>
            </a:r>
          </a:p>
          <a:p>
            <a:pPr>
              <a:spcAft>
                <a:spcPts val="800"/>
              </a:spcAft>
              <a:defRPr sz="2400"/>
            </a:pPr>
            <a:r>
              <a:t>Cgroups control how much resource a container can use</a:t>
            </a:r>
          </a:p>
          <a:p>
            <a:pPr>
              <a:spcAft>
                <a:spcPts val="800"/>
              </a:spcAft>
              <a:defRPr sz="2400"/>
            </a:pPr>
            <a:r>
              <a:t>Overlay filesystems provide private filesystem views</a:t>
            </a:r>
          </a:p>
          <a:p>
            <a:pPr>
              <a:spcAft>
                <a:spcPts val="800"/>
              </a:spcAft>
              <a:defRPr sz="2400"/>
            </a:pPr>
            <a:r>
              <a:t>Security layers reduce privileges and system-call access</a:t>
            </a:r>
          </a:p>
          <a:p>
            <a:pPr>
              <a:spcAft>
                <a:spcPts val="800"/>
              </a:spcAft>
              <a:defRPr sz="2400"/>
            </a:pPr>
            <a:r>
              <a:t>Containers are central to modern cloud computing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Thank you for listening</a:t>
            </a:r>
          </a:p>
          <a:p>
            <a:pPr>
              <a:spcAft>
                <a:spcPts val="800"/>
              </a:spcAft>
              <a:defRPr sz="2400"/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